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63" r:id="rId3"/>
    <p:sldId id="269" r:id="rId4"/>
    <p:sldId id="268" r:id="rId5"/>
    <p:sldId id="270" r:id="rId6"/>
    <p:sldId id="272" r:id="rId7"/>
    <p:sldId id="27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5E46"/>
    <a:srgbClr val="E01919"/>
    <a:srgbClr val="FFFF00"/>
    <a:srgbClr val="47BA47"/>
    <a:srgbClr val="F0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1A5B87-19BC-4E33-0F60-B56B7167090E}" v="136" dt="2026-02-27T09:25:35.026"/>
    <p1510:client id="{ECD41558-5B3D-A667-46E3-3BEF9ACBC737}" v="1404" dt="2026-02-27T09:31:28.4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1DC873-9B5E-4B56-B08C-B9830ED660A1}" type="doc">
      <dgm:prSet loTypeId="urn:microsoft.com/office/officeart/2005/8/layout/chevron2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US"/>
        </a:p>
      </dgm:t>
    </dgm:pt>
    <dgm:pt modelId="{6DF683F5-AF8C-4223-B5BC-2653178963AE}">
      <dgm:prSet phldrT="[Text]" phldr="0"/>
      <dgm:spPr/>
      <dgm:t>
        <a:bodyPr/>
        <a:lstStyle/>
        <a:p>
          <a:pPr rtl="0"/>
          <a:r>
            <a:rPr lang="en-US" b="1">
              <a:latin typeface="Aptos Display" panose="02110004020202020204"/>
            </a:rPr>
            <a:t>CORE IDEA</a:t>
          </a:r>
          <a:endParaRPr lang="en-US" b="1"/>
        </a:p>
      </dgm:t>
    </dgm:pt>
    <dgm:pt modelId="{54F5C21E-2215-45F3-8FCD-AF042A23AD1C}" type="parTrans" cxnId="{351979A1-3394-484A-A63A-F8F00C019E5A}">
      <dgm:prSet/>
      <dgm:spPr/>
      <dgm:t>
        <a:bodyPr/>
        <a:lstStyle/>
        <a:p>
          <a:endParaRPr lang="en-US"/>
        </a:p>
      </dgm:t>
    </dgm:pt>
    <dgm:pt modelId="{49101788-6A8F-47A8-A351-280E158923AF}" type="sibTrans" cxnId="{351979A1-3394-484A-A63A-F8F00C019E5A}">
      <dgm:prSet/>
      <dgm:spPr/>
      <dgm:t>
        <a:bodyPr/>
        <a:lstStyle/>
        <a:p>
          <a:endParaRPr lang="en-US"/>
        </a:p>
      </dgm:t>
    </dgm:pt>
    <dgm:pt modelId="{E923064B-026C-4FB7-A213-07EAD747C583}">
      <dgm:prSet phldrT="[Text]" phldr="0"/>
      <dgm:spPr/>
      <dgm:t>
        <a:bodyPr/>
        <a:lstStyle/>
        <a:p>
          <a:pPr rtl="0"/>
          <a:r>
            <a:rPr lang="en-US" sz="2400" b="0" dirty="0"/>
            <a:t>An AI-powered smart traffic system</a:t>
          </a:r>
          <a:r>
            <a:rPr lang="en-US" sz="2400" b="1" dirty="0"/>
            <a:t> CityPulse</a:t>
          </a:r>
          <a:r>
            <a:rPr lang="en-US" sz="2400" b="0" dirty="0"/>
            <a:t> that predicts congestion and dynamically adjusts signal timings to optimize traffic flow in real </a:t>
          </a:r>
          <a:r>
            <a:rPr lang="en-US" sz="2400" b="0" dirty="0">
              <a:latin typeface="Aptos"/>
            </a:rPr>
            <a:t>time Real-time</a:t>
          </a:r>
          <a:r>
            <a:rPr lang="en-US" sz="2400" dirty="0">
              <a:latin typeface="Aptos"/>
            </a:rPr>
            <a:t> blood stock tracking</a:t>
          </a:r>
          <a:endParaRPr lang="en-US" sz="1800" b="1" dirty="0">
            <a:latin typeface="Aptos Display"/>
          </a:endParaRPr>
        </a:p>
      </dgm:t>
    </dgm:pt>
    <dgm:pt modelId="{8C8A0CAA-928F-4F3F-B04A-62EF1599AC5F}" type="parTrans" cxnId="{4B66C015-36C9-44B4-B00D-2389179438CE}">
      <dgm:prSet/>
      <dgm:spPr/>
      <dgm:t>
        <a:bodyPr/>
        <a:lstStyle/>
        <a:p>
          <a:endParaRPr lang="en-US"/>
        </a:p>
      </dgm:t>
    </dgm:pt>
    <dgm:pt modelId="{D5401F9F-3E73-4909-9092-0FBF575634D7}" type="sibTrans" cxnId="{4B66C015-36C9-44B4-B00D-2389179438CE}">
      <dgm:prSet/>
      <dgm:spPr/>
      <dgm:t>
        <a:bodyPr/>
        <a:lstStyle/>
        <a:p>
          <a:endParaRPr lang="en-US"/>
        </a:p>
      </dgm:t>
    </dgm:pt>
    <dgm:pt modelId="{4C5E79E7-94A2-4EC4-B894-0C5133058AF5}">
      <dgm:prSet phldr="0"/>
      <dgm:spPr/>
      <dgm:t>
        <a:bodyPr/>
        <a:lstStyle/>
        <a:p>
          <a:r>
            <a:rPr lang="en-US" sz="2800" b="1">
              <a:latin typeface="Aptos"/>
            </a:rPr>
            <a:t>INNOVATION &amp; UNIQUENESS</a:t>
          </a:r>
          <a:endParaRPr lang="en-US" sz="2800" b="1">
            <a:latin typeface="Aptos Display" panose="02110004020202020204"/>
          </a:endParaRPr>
        </a:p>
      </dgm:t>
    </dgm:pt>
    <dgm:pt modelId="{09C9B72C-6CEE-4E28-A0F3-7D4B5A88D414}" type="parTrans" cxnId="{6E1068E7-39DC-4179-BE4D-42607705EF1A}">
      <dgm:prSet/>
      <dgm:spPr/>
      <dgm:t>
        <a:bodyPr/>
        <a:lstStyle/>
        <a:p>
          <a:endParaRPr lang="en-IN"/>
        </a:p>
      </dgm:t>
    </dgm:pt>
    <dgm:pt modelId="{1678A15C-FD54-43FB-8CA6-AC014E97D58C}" type="sibTrans" cxnId="{6E1068E7-39DC-4179-BE4D-42607705EF1A}">
      <dgm:prSet/>
      <dgm:spPr/>
      <dgm:t>
        <a:bodyPr/>
        <a:lstStyle/>
        <a:p>
          <a:endParaRPr lang="en-IN"/>
        </a:p>
      </dgm:t>
    </dgm:pt>
    <dgm:pt modelId="{CF4D5012-D6B3-4E0A-B038-F5D1D3E6E081}">
      <dgm:prSet phldr="0"/>
      <dgm:spPr/>
      <dgm:t>
        <a:bodyPr/>
        <a:lstStyle/>
        <a:p>
          <a:pPr rtl="0"/>
          <a:r>
            <a:rPr lang="en-US" sz="2400" b="0"/>
            <a:t>A predictive, AI-driven adaptive signal system that dynamically optimizes traffic flow instead of relying on fixed timers.</a:t>
          </a:r>
          <a:endParaRPr lang="en-US" sz="2400" b="1">
            <a:latin typeface="Aptos"/>
          </a:endParaRPr>
        </a:p>
      </dgm:t>
    </dgm:pt>
    <dgm:pt modelId="{DFFA0418-11F6-4D66-AD86-60B7303DA877}" type="parTrans" cxnId="{A19F416D-EFEE-418E-A184-71B013C482CD}">
      <dgm:prSet/>
      <dgm:spPr/>
      <dgm:t>
        <a:bodyPr/>
        <a:lstStyle/>
        <a:p>
          <a:endParaRPr lang="en-IN"/>
        </a:p>
      </dgm:t>
    </dgm:pt>
    <dgm:pt modelId="{199B81AF-AF5D-4F0B-8C60-B74A8FAE74D5}" type="sibTrans" cxnId="{A19F416D-EFEE-418E-A184-71B013C482CD}">
      <dgm:prSet/>
      <dgm:spPr/>
      <dgm:t>
        <a:bodyPr/>
        <a:lstStyle/>
        <a:p>
          <a:endParaRPr lang="en-IN"/>
        </a:p>
      </dgm:t>
    </dgm:pt>
    <dgm:pt modelId="{36B3B4F1-0D45-4A9A-9FE5-D9272FA6D29B}">
      <dgm:prSet phldr="0"/>
      <dgm:spPr/>
      <dgm:t>
        <a:bodyPr/>
        <a:lstStyle/>
        <a:p>
          <a:r>
            <a:rPr lang="en-US" sz="2400"/>
            <a:t>Uses AI to analyze real-time and historical traffic data to predict congestion and automatically adjust signal timings</a:t>
          </a:r>
        </a:p>
      </dgm:t>
    </dgm:pt>
    <dgm:pt modelId="{49349E2A-55C7-4B0B-89FA-859C0306631A}" type="parTrans" cxnId="{784AFA1E-5041-4046-ADA0-20C1A732EB37}">
      <dgm:prSet/>
      <dgm:spPr/>
      <dgm:t>
        <a:bodyPr/>
        <a:lstStyle/>
        <a:p>
          <a:endParaRPr lang="en-IN"/>
        </a:p>
      </dgm:t>
    </dgm:pt>
    <dgm:pt modelId="{5E0E83E2-85EC-4EC2-8991-72609945E0B1}" type="sibTrans" cxnId="{784AFA1E-5041-4046-ADA0-20C1A732EB37}">
      <dgm:prSet/>
      <dgm:spPr/>
      <dgm:t>
        <a:bodyPr/>
        <a:lstStyle/>
        <a:p>
          <a:endParaRPr lang="en-IN"/>
        </a:p>
      </dgm:t>
    </dgm:pt>
    <dgm:pt modelId="{66DF6917-3FF9-4025-A821-0C65D21879B0}">
      <dgm:prSet phldr="0"/>
      <dgm:spPr/>
      <dgm:t>
        <a:bodyPr/>
        <a:lstStyle/>
        <a:p>
          <a:pPr rtl="0"/>
          <a:r>
            <a:rPr lang="en-US" sz="2800" b="1">
              <a:latin typeface="Aptos"/>
            </a:rPr>
            <a:t>HOW IT WORKS</a:t>
          </a:r>
          <a:endParaRPr lang="en-US" sz="2800" b="1">
            <a:latin typeface="Aptos Display" panose="020F0302020204030204"/>
          </a:endParaRPr>
        </a:p>
      </dgm:t>
    </dgm:pt>
    <dgm:pt modelId="{C6690254-EE23-4AA1-84A5-57A68ECF5A3C}" type="parTrans" cxnId="{3F4674CB-CBBC-4A62-A434-7F427C89F0CF}">
      <dgm:prSet/>
      <dgm:spPr/>
      <dgm:t>
        <a:bodyPr/>
        <a:lstStyle/>
        <a:p>
          <a:endParaRPr lang="en-IN"/>
        </a:p>
      </dgm:t>
    </dgm:pt>
    <dgm:pt modelId="{909CE6F1-3C10-4BA2-8DD0-FBC1F7EAC025}" type="sibTrans" cxnId="{3F4674CB-CBBC-4A62-A434-7F427C89F0CF}">
      <dgm:prSet/>
      <dgm:spPr/>
      <dgm:t>
        <a:bodyPr/>
        <a:lstStyle/>
        <a:p>
          <a:endParaRPr lang="en-IN"/>
        </a:p>
      </dgm:t>
    </dgm:pt>
    <dgm:pt modelId="{3F980EE2-A932-4268-B7FB-CD8EE859D5D9}" type="pres">
      <dgm:prSet presAssocID="{961DC873-9B5E-4B56-B08C-B9830ED660A1}" presName="linearFlow" presStyleCnt="0">
        <dgm:presLayoutVars>
          <dgm:dir/>
          <dgm:animLvl val="lvl"/>
          <dgm:resizeHandles val="exact"/>
        </dgm:presLayoutVars>
      </dgm:prSet>
      <dgm:spPr/>
    </dgm:pt>
    <dgm:pt modelId="{F9027C94-DD5A-422A-8CC1-483454133657}" type="pres">
      <dgm:prSet presAssocID="{6DF683F5-AF8C-4223-B5BC-2653178963AE}" presName="composite" presStyleCnt="0"/>
      <dgm:spPr/>
    </dgm:pt>
    <dgm:pt modelId="{704692EA-8FA3-4C7B-957E-59486F91D629}" type="pres">
      <dgm:prSet presAssocID="{6DF683F5-AF8C-4223-B5BC-2653178963AE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39971A13-498F-4C23-9242-96653541F3EC}" type="pres">
      <dgm:prSet presAssocID="{6DF683F5-AF8C-4223-B5BC-2653178963AE}" presName="descendantText" presStyleLbl="alignAcc1" presStyleIdx="0" presStyleCnt="3">
        <dgm:presLayoutVars>
          <dgm:bulletEnabled val="1"/>
        </dgm:presLayoutVars>
      </dgm:prSet>
      <dgm:spPr/>
    </dgm:pt>
    <dgm:pt modelId="{A0932052-A378-4522-A847-6AA8C6479640}" type="pres">
      <dgm:prSet presAssocID="{49101788-6A8F-47A8-A351-280E158923AF}" presName="sp" presStyleCnt="0"/>
      <dgm:spPr/>
    </dgm:pt>
    <dgm:pt modelId="{FCE951F8-B1CE-4F80-B086-B4E8DA7D5540}" type="pres">
      <dgm:prSet presAssocID="{4C5E79E7-94A2-4EC4-B894-0C5133058AF5}" presName="composite" presStyleCnt="0"/>
      <dgm:spPr/>
    </dgm:pt>
    <dgm:pt modelId="{3BACD7CD-11D0-4DFF-B87D-5FFF6914EE4E}" type="pres">
      <dgm:prSet presAssocID="{4C5E79E7-94A2-4EC4-B894-0C5133058AF5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19163AB5-1AF0-4233-AB7A-3D777BDE8C4B}" type="pres">
      <dgm:prSet presAssocID="{4C5E79E7-94A2-4EC4-B894-0C5133058AF5}" presName="descendantText" presStyleLbl="alignAcc1" presStyleIdx="1" presStyleCnt="3">
        <dgm:presLayoutVars>
          <dgm:bulletEnabled val="1"/>
        </dgm:presLayoutVars>
      </dgm:prSet>
      <dgm:spPr/>
    </dgm:pt>
    <dgm:pt modelId="{F33634D2-5348-43DD-BE75-502F171DA531}" type="pres">
      <dgm:prSet presAssocID="{1678A15C-FD54-43FB-8CA6-AC014E97D58C}" presName="sp" presStyleCnt="0"/>
      <dgm:spPr/>
    </dgm:pt>
    <dgm:pt modelId="{BD9A3158-2F09-4812-88F9-5058D08043D7}" type="pres">
      <dgm:prSet presAssocID="{66DF6917-3FF9-4025-A821-0C65D21879B0}" presName="composite" presStyleCnt="0"/>
      <dgm:spPr/>
    </dgm:pt>
    <dgm:pt modelId="{4C3979BA-BC8B-42A7-B8D4-FEC3807F6EE3}" type="pres">
      <dgm:prSet presAssocID="{66DF6917-3FF9-4025-A821-0C65D21879B0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1BFF01B5-6861-4BD2-BA8F-EBD0CC67E78E}" type="pres">
      <dgm:prSet presAssocID="{66DF6917-3FF9-4025-A821-0C65D21879B0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4B66C015-36C9-44B4-B00D-2389179438CE}" srcId="{6DF683F5-AF8C-4223-B5BC-2653178963AE}" destId="{E923064B-026C-4FB7-A213-07EAD747C583}" srcOrd="0" destOrd="0" parTransId="{8C8A0CAA-928F-4F3F-B04A-62EF1599AC5F}" sibTransId="{D5401F9F-3E73-4909-9092-0FBF575634D7}"/>
    <dgm:cxn modelId="{784AFA1E-5041-4046-ADA0-20C1A732EB37}" srcId="{66DF6917-3FF9-4025-A821-0C65D21879B0}" destId="{36B3B4F1-0D45-4A9A-9FE5-D9272FA6D29B}" srcOrd="0" destOrd="0" parTransId="{49349E2A-55C7-4B0B-89FA-859C0306631A}" sibTransId="{5E0E83E2-85EC-4EC2-8991-72609945E0B1}"/>
    <dgm:cxn modelId="{153B044A-D528-427C-B282-56CDC26BA920}" type="presOf" srcId="{E923064B-026C-4FB7-A213-07EAD747C583}" destId="{39971A13-498F-4C23-9242-96653541F3EC}" srcOrd="0" destOrd="0" presId="urn:microsoft.com/office/officeart/2005/8/layout/chevron2"/>
    <dgm:cxn modelId="{A19F416D-EFEE-418E-A184-71B013C482CD}" srcId="{4C5E79E7-94A2-4EC4-B894-0C5133058AF5}" destId="{CF4D5012-D6B3-4E0A-B038-F5D1D3E6E081}" srcOrd="0" destOrd="0" parTransId="{DFFA0418-11F6-4D66-AD86-60B7303DA877}" sibTransId="{199B81AF-AF5D-4F0B-8C60-B74A8FAE74D5}"/>
    <dgm:cxn modelId="{BEE5E070-14F0-44FC-BFE7-BA60F47AE29A}" type="presOf" srcId="{CF4D5012-D6B3-4E0A-B038-F5D1D3E6E081}" destId="{19163AB5-1AF0-4233-AB7A-3D777BDE8C4B}" srcOrd="0" destOrd="0" presId="urn:microsoft.com/office/officeart/2005/8/layout/chevron2"/>
    <dgm:cxn modelId="{1E827D8C-CF1F-469F-9F5C-32D11E522F83}" type="presOf" srcId="{66DF6917-3FF9-4025-A821-0C65D21879B0}" destId="{4C3979BA-BC8B-42A7-B8D4-FEC3807F6EE3}" srcOrd="0" destOrd="0" presId="urn:microsoft.com/office/officeart/2005/8/layout/chevron2"/>
    <dgm:cxn modelId="{794FA190-8DBC-4E00-A056-722CEA1D4A00}" type="presOf" srcId="{4C5E79E7-94A2-4EC4-B894-0C5133058AF5}" destId="{3BACD7CD-11D0-4DFF-B87D-5FFF6914EE4E}" srcOrd="0" destOrd="0" presId="urn:microsoft.com/office/officeart/2005/8/layout/chevron2"/>
    <dgm:cxn modelId="{351979A1-3394-484A-A63A-F8F00C019E5A}" srcId="{961DC873-9B5E-4B56-B08C-B9830ED660A1}" destId="{6DF683F5-AF8C-4223-B5BC-2653178963AE}" srcOrd="0" destOrd="0" parTransId="{54F5C21E-2215-45F3-8FCD-AF042A23AD1C}" sibTransId="{49101788-6A8F-47A8-A351-280E158923AF}"/>
    <dgm:cxn modelId="{039840C3-F8F6-4DA5-969C-D1D557CC744F}" type="presOf" srcId="{961DC873-9B5E-4B56-B08C-B9830ED660A1}" destId="{3F980EE2-A932-4268-B7FB-CD8EE859D5D9}" srcOrd="0" destOrd="0" presId="urn:microsoft.com/office/officeart/2005/8/layout/chevron2"/>
    <dgm:cxn modelId="{3F4674CB-CBBC-4A62-A434-7F427C89F0CF}" srcId="{961DC873-9B5E-4B56-B08C-B9830ED660A1}" destId="{66DF6917-3FF9-4025-A821-0C65D21879B0}" srcOrd="2" destOrd="0" parTransId="{C6690254-EE23-4AA1-84A5-57A68ECF5A3C}" sibTransId="{909CE6F1-3C10-4BA2-8DD0-FBC1F7EAC025}"/>
    <dgm:cxn modelId="{956C50E5-86E3-4DBB-839D-B4908CE3B2B8}" type="presOf" srcId="{36B3B4F1-0D45-4A9A-9FE5-D9272FA6D29B}" destId="{1BFF01B5-6861-4BD2-BA8F-EBD0CC67E78E}" srcOrd="0" destOrd="0" presId="urn:microsoft.com/office/officeart/2005/8/layout/chevron2"/>
    <dgm:cxn modelId="{6E1068E7-39DC-4179-BE4D-42607705EF1A}" srcId="{961DC873-9B5E-4B56-B08C-B9830ED660A1}" destId="{4C5E79E7-94A2-4EC4-B894-0C5133058AF5}" srcOrd="1" destOrd="0" parTransId="{09C9B72C-6CEE-4E28-A0F3-7D4B5A88D414}" sibTransId="{1678A15C-FD54-43FB-8CA6-AC014E97D58C}"/>
    <dgm:cxn modelId="{42494CE9-D350-4227-B6DF-D3DC89A68D23}" type="presOf" srcId="{6DF683F5-AF8C-4223-B5BC-2653178963AE}" destId="{704692EA-8FA3-4C7B-957E-59486F91D629}" srcOrd="0" destOrd="0" presId="urn:microsoft.com/office/officeart/2005/8/layout/chevron2"/>
    <dgm:cxn modelId="{06DAD500-97E4-431B-B1FC-DD5B7B20C459}" type="presParOf" srcId="{3F980EE2-A932-4268-B7FB-CD8EE859D5D9}" destId="{F9027C94-DD5A-422A-8CC1-483454133657}" srcOrd="0" destOrd="0" presId="urn:microsoft.com/office/officeart/2005/8/layout/chevron2"/>
    <dgm:cxn modelId="{4D16F359-99CE-4DB7-9B4B-D3BEC2CE844D}" type="presParOf" srcId="{F9027C94-DD5A-422A-8CC1-483454133657}" destId="{704692EA-8FA3-4C7B-957E-59486F91D629}" srcOrd="0" destOrd="0" presId="urn:microsoft.com/office/officeart/2005/8/layout/chevron2"/>
    <dgm:cxn modelId="{3B957364-CDC0-4DB4-B99E-396A074A8A43}" type="presParOf" srcId="{F9027C94-DD5A-422A-8CC1-483454133657}" destId="{39971A13-498F-4C23-9242-96653541F3EC}" srcOrd="1" destOrd="0" presId="urn:microsoft.com/office/officeart/2005/8/layout/chevron2"/>
    <dgm:cxn modelId="{0DD76079-45BB-4E46-AEB1-08C6A7D241C5}" type="presParOf" srcId="{3F980EE2-A932-4268-B7FB-CD8EE859D5D9}" destId="{A0932052-A378-4522-A847-6AA8C6479640}" srcOrd="1" destOrd="0" presId="urn:microsoft.com/office/officeart/2005/8/layout/chevron2"/>
    <dgm:cxn modelId="{6F16B2D8-9E57-4041-B12A-4C996C0512DA}" type="presParOf" srcId="{3F980EE2-A932-4268-B7FB-CD8EE859D5D9}" destId="{FCE951F8-B1CE-4F80-B086-B4E8DA7D5540}" srcOrd="2" destOrd="0" presId="urn:microsoft.com/office/officeart/2005/8/layout/chevron2"/>
    <dgm:cxn modelId="{B3569478-81EB-42DE-BF67-152EA9FBA3C5}" type="presParOf" srcId="{FCE951F8-B1CE-4F80-B086-B4E8DA7D5540}" destId="{3BACD7CD-11D0-4DFF-B87D-5FFF6914EE4E}" srcOrd="0" destOrd="0" presId="urn:microsoft.com/office/officeart/2005/8/layout/chevron2"/>
    <dgm:cxn modelId="{E1A6B1FC-E4A1-400F-8C6E-5DE17871EE2A}" type="presParOf" srcId="{FCE951F8-B1CE-4F80-B086-B4E8DA7D5540}" destId="{19163AB5-1AF0-4233-AB7A-3D777BDE8C4B}" srcOrd="1" destOrd="0" presId="urn:microsoft.com/office/officeart/2005/8/layout/chevron2"/>
    <dgm:cxn modelId="{C6490E88-886D-49DE-96B4-F1E5CB970BF1}" type="presParOf" srcId="{3F980EE2-A932-4268-B7FB-CD8EE859D5D9}" destId="{F33634D2-5348-43DD-BE75-502F171DA531}" srcOrd="3" destOrd="0" presId="urn:microsoft.com/office/officeart/2005/8/layout/chevron2"/>
    <dgm:cxn modelId="{33B762E0-396E-487C-AE4D-8001A1EBB5D7}" type="presParOf" srcId="{3F980EE2-A932-4268-B7FB-CD8EE859D5D9}" destId="{BD9A3158-2F09-4812-88F9-5058D08043D7}" srcOrd="4" destOrd="0" presId="urn:microsoft.com/office/officeart/2005/8/layout/chevron2"/>
    <dgm:cxn modelId="{082E7050-C81B-4E49-8067-7C8A69025FC4}" type="presParOf" srcId="{BD9A3158-2F09-4812-88F9-5058D08043D7}" destId="{4C3979BA-BC8B-42A7-B8D4-FEC3807F6EE3}" srcOrd="0" destOrd="0" presId="urn:microsoft.com/office/officeart/2005/8/layout/chevron2"/>
    <dgm:cxn modelId="{9150E843-E4E4-4E5A-9F59-98020725498F}" type="presParOf" srcId="{BD9A3158-2F09-4812-88F9-5058D08043D7}" destId="{1BFF01B5-6861-4BD2-BA8F-EBD0CC67E78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4692EA-8FA3-4C7B-957E-59486F91D629}">
      <dsp:nvSpPr>
        <dsp:cNvPr id="0" name=""/>
        <dsp:cNvSpPr/>
      </dsp:nvSpPr>
      <dsp:spPr>
        <a:xfrm rot="5400000">
          <a:off x="-248415" y="249505"/>
          <a:ext cx="1656100" cy="1159270"/>
        </a:xfrm>
        <a:prstGeom prst="chevron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>
              <a:latin typeface="Aptos Display" panose="02110004020202020204"/>
            </a:rPr>
            <a:t>CORE IDEA</a:t>
          </a:r>
          <a:endParaRPr lang="en-US" sz="1300" b="1" kern="1200"/>
        </a:p>
      </dsp:txBody>
      <dsp:txXfrm rot="-5400000">
        <a:off x="0" y="580725"/>
        <a:ext cx="1159270" cy="496830"/>
      </dsp:txXfrm>
    </dsp:sp>
    <dsp:sp modelId="{39971A13-498F-4C23-9242-96653541F3EC}">
      <dsp:nvSpPr>
        <dsp:cNvPr id="0" name=""/>
        <dsp:cNvSpPr/>
      </dsp:nvSpPr>
      <dsp:spPr>
        <a:xfrm rot="5400000">
          <a:off x="5509319" y="-4348958"/>
          <a:ext cx="1076465" cy="977656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b="0" kern="1200" dirty="0"/>
            <a:t>An AI-powered smart traffic system</a:t>
          </a:r>
          <a:r>
            <a:rPr lang="en-US" sz="2200" b="1" kern="1200" dirty="0"/>
            <a:t> CityPulse</a:t>
          </a:r>
          <a:r>
            <a:rPr lang="en-US" sz="2200" b="0" kern="1200" dirty="0"/>
            <a:t> that predicts congestion and dynamically adjusts signal timings to optimize traffic flow in real </a:t>
          </a:r>
          <a:r>
            <a:rPr lang="en-US" sz="2200" b="0" kern="1200" dirty="0">
              <a:latin typeface="Aptos"/>
            </a:rPr>
            <a:t>time Real-time</a:t>
          </a:r>
          <a:r>
            <a:rPr lang="en-US" sz="2200" kern="1200" dirty="0">
              <a:latin typeface="Aptos"/>
            </a:rPr>
            <a:t> blood stock tracking</a:t>
          </a:r>
          <a:endParaRPr lang="en-US" sz="2200" b="1" kern="1200" dirty="0">
            <a:latin typeface="Aptos Display"/>
          </a:endParaRPr>
        </a:p>
      </dsp:txBody>
      <dsp:txXfrm rot="-5400000">
        <a:off x="1159271" y="53639"/>
        <a:ext cx="9724014" cy="971367"/>
      </dsp:txXfrm>
    </dsp:sp>
    <dsp:sp modelId="{3BACD7CD-11D0-4DFF-B87D-5FFF6914EE4E}">
      <dsp:nvSpPr>
        <dsp:cNvPr id="0" name=""/>
        <dsp:cNvSpPr/>
      </dsp:nvSpPr>
      <dsp:spPr>
        <a:xfrm rot="5400000">
          <a:off x="-248415" y="1712050"/>
          <a:ext cx="1656100" cy="1159270"/>
        </a:xfrm>
        <a:prstGeom prst="chevron">
          <a:avLst/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accent1">
              <a:shade val="80000"/>
              <a:hueOff val="272799"/>
              <a:satOff val="-28446"/>
              <a:lumOff val="1911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>
              <a:latin typeface="Aptos"/>
            </a:rPr>
            <a:t>INNOVATION &amp; UNIQUENESS</a:t>
          </a:r>
          <a:endParaRPr lang="en-US" sz="1300" b="1" kern="1200">
            <a:latin typeface="Aptos Display" panose="02110004020202020204"/>
          </a:endParaRPr>
        </a:p>
      </dsp:txBody>
      <dsp:txXfrm rot="-5400000">
        <a:off x="0" y="2043270"/>
        <a:ext cx="1159270" cy="496830"/>
      </dsp:txXfrm>
    </dsp:sp>
    <dsp:sp modelId="{19163AB5-1AF0-4233-AB7A-3D777BDE8C4B}">
      <dsp:nvSpPr>
        <dsp:cNvPr id="0" name=""/>
        <dsp:cNvSpPr/>
      </dsp:nvSpPr>
      <dsp:spPr>
        <a:xfrm rot="5400000">
          <a:off x="5509319" y="-2886413"/>
          <a:ext cx="1076465" cy="977656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272799"/>
              <a:satOff val="-28446"/>
              <a:lumOff val="1911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b="0" kern="1200"/>
            <a:t>A predictive, AI-driven adaptive signal system that dynamically optimizes traffic flow instead of relying on fixed timers.</a:t>
          </a:r>
          <a:endParaRPr lang="en-US" sz="2200" b="1" kern="1200">
            <a:latin typeface="Aptos"/>
          </a:endParaRPr>
        </a:p>
      </dsp:txBody>
      <dsp:txXfrm rot="-5400000">
        <a:off x="1159271" y="1516184"/>
        <a:ext cx="9724014" cy="971367"/>
      </dsp:txXfrm>
    </dsp:sp>
    <dsp:sp modelId="{4C3979BA-BC8B-42A7-B8D4-FEC3807F6EE3}">
      <dsp:nvSpPr>
        <dsp:cNvPr id="0" name=""/>
        <dsp:cNvSpPr/>
      </dsp:nvSpPr>
      <dsp:spPr>
        <a:xfrm rot="5400000">
          <a:off x="-248415" y="3174594"/>
          <a:ext cx="1656100" cy="1159270"/>
        </a:xfrm>
        <a:prstGeom prst="chevron">
          <a:avLst/>
        </a:prstGeom>
        <a:solidFill>
          <a:schemeClr val="accent1">
            <a:shade val="80000"/>
            <a:hueOff val="545598"/>
            <a:satOff val="-56892"/>
            <a:lumOff val="38221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>
              <a:latin typeface="Aptos"/>
            </a:rPr>
            <a:t>HOW IT WORKS</a:t>
          </a:r>
          <a:endParaRPr lang="en-US" sz="1300" b="1" kern="1200">
            <a:latin typeface="Aptos Display" panose="020F0302020204030204"/>
          </a:endParaRPr>
        </a:p>
      </dsp:txBody>
      <dsp:txXfrm rot="-5400000">
        <a:off x="0" y="3505814"/>
        <a:ext cx="1159270" cy="496830"/>
      </dsp:txXfrm>
    </dsp:sp>
    <dsp:sp modelId="{1BFF01B5-6861-4BD2-BA8F-EBD0CC67E78E}">
      <dsp:nvSpPr>
        <dsp:cNvPr id="0" name=""/>
        <dsp:cNvSpPr/>
      </dsp:nvSpPr>
      <dsp:spPr>
        <a:xfrm rot="5400000">
          <a:off x="5509319" y="-1423869"/>
          <a:ext cx="1076465" cy="977656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545598"/>
              <a:satOff val="-56892"/>
              <a:lumOff val="382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Uses AI to analyze real-time and historical traffic data to predict congestion and automatically adjust signal timings</a:t>
          </a:r>
        </a:p>
      </dsp:txBody>
      <dsp:txXfrm rot="-5400000">
        <a:off x="1159271" y="2978728"/>
        <a:ext cx="9724014" cy="9713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B04B4E-5F83-42FE-9702-5877446D7163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262E5-3DE5-4F74-AE01-FD6D51646C1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5190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262E5-3DE5-4F74-AE01-FD6D51646C1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8954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22B26-DDED-7B93-2ACF-AC091C30D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3400">
                <a:ea typeface="+mj-lt"/>
                <a:cs typeface="+mj-lt"/>
              </a:rPr>
              <a:t>🚦 </a:t>
            </a:r>
            <a:r>
              <a:rPr lang="en-US" sz="3400" b="1" i="1">
                <a:latin typeface="Bookman Old Style"/>
                <a:ea typeface="+mj-lt"/>
                <a:cs typeface="+mj-lt"/>
              </a:rPr>
              <a:t>AI-Based Traffic Congestion Prediction &amp; Optimization System </a:t>
            </a:r>
            <a:br>
              <a:rPr lang="en-US" sz="3400" b="1" i="1">
                <a:latin typeface="Bookman Old Style"/>
                <a:ea typeface="+mj-lt"/>
                <a:cs typeface="+mj-lt"/>
              </a:rPr>
            </a:br>
            <a:r>
              <a:rPr lang="en-US" sz="3400" b="1" i="1">
                <a:latin typeface="Bookman Old Style"/>
              </a:rPr>
              <a:t>                             </a:t>
            </a:r>
            <a:endParaRPr lang="en-US" sz="3400" b="1">
              <a:latin typeface="Bookman Old Style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A78E63-9EB0-C7FA-C556-1B31B2AD4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43780"/>
            <a:ext cx="11149017" cy="31246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i="1" dirty="0">
                <a:latin typeface="Book Antiqua"/>
                <a:ea typeface="+mn-lt"/>
                <a:cs typeface="+mn-lt"/>
              </a:rPr>
              <a:t>                                                                                          </a:t>
            </a:r>
            <a:r>
              <a:rPr lang="en-US" sz="2400" b="1" i="1" dirty="0">
                <a:latin typeface="Book Antiqua"/>
                <a:ea typeface="+mn-lt"/>
                <a:cs typeface="+mn-lt"/>
              </a:rPr>
              <a:t>"Predict. Prevent. Optimize."</a:t>
            </a:r>
          </a:p>
          <a:p>
            <a:pPr marL="0" indent="0">
              <a:buNone/>
            </a:pPr>
            <a:endParaRPr lang="en-US" sz="2400" dirty="0">
              <a:latin typeface="Aptos"/>
            </a:endParaRPr>
          </a:p>
          <a:p>
            <a:pPr marL="0" indent="0">
              <a:buNone/>
            </a:pPr>
            <a:endParaRPr lang="en-US" sz="2400" dirty="0">
              <a:latin typeface="Aptos"/>
            </a:endParaRPr>
          </a:p>
          <a:p>
            <a:pPr marL="0" indent="0">
              <a:buNone/>
            </a:pPr>
            <a:r>
              <a:rPr lang="en-US" sz="2400" b="1" dirty="0">
                <a:latin typeface="Bookman Old Style"/>
              </a:rPr>
              <a:t>TEAM NAME</a:t>
            </a:r>
            <a:r>
              <a:rPr lang="en-US" sz="2400" dirty="0">
                <a:latin typeface="Bookman Old Style"/>
              </a:rPr>
              <a:t>:- ''</a:t>
            </a:r>
            <a:r>
              <a:rPr lang="en-US" sz="2400" i="1" dirty="0" err="1">
                <a:latin typeface="Bookman Old Style"/>
              </a:rPr>
              <a:t>CodeBlooded</a:t>
            </a:r>
            <a:r>
              <a:rPr lang="en-US" sz="2400" i="1" dirty="0">
                <a:latin typeface="Bookman Old Style"/>
              </a:rPr>
              <a:t>''</a:t>
            </a:r>
          </a:p>
          <a:p>
            <a:pPr marL="0" indent="0">
              <a:buNone/>
            </a:pPr>
            <a:r>
              <a:rPr lang="en-US" sz="2400" b="1" dirty="0">
                <a:latin typeface="Bookman Old Style"/>
              </a:rPr>
              <a:t>EVENT</a:t>
            </a:r>
            <a:r>
              <a:rPr lang="en-US" sz="2400" dirty="0">
                <a:latin typeface="Bookman Old Style"/>
              </a:rPr>
              <a:t>:-  </a:t>
            </a:r>
            <a:r>
              <a:rPr lang="en-US" sz="2400" i="1" dirty="0">
                <a:latin typeface="Bookman Old Style"/>
              </a:rPr>
              <a:t>HACKANOVA 2026</a:t>
            </a:r>
          </a:p>
          <a:p>
            <a:pPr marL="0" indent="0">
              <a:buNone/>
            </a:pPr>
            <a:r>
              <a:rPr lang="en-US" sz="2400" b="1" dirty="0">
                <a:latin typeface="Bookman Old Style"/>
              </a:rPr>
              <a:t>TEAM NUMBER</a:t>
            </a:r>
            <a:r>
              <a:rPr lang="en-US" sz="2400" dirty="0">
                <a:latin typeface="Bookman Old Style"/>
              </a:rPr>
              <a:t>:-</a:t>
            </a:r>
            <a:r>
              <a:rPr lang="en-US" sz="2400" i="1" dirty="0">
                <a:latin typeface="Bookman Old Style"/>
              </a:rPr>
              <a:t> 33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Half Frame 3">
            <a:extLst>
              <a:ext uri="{FF2B5EF4-FFF2-40B4-BE49-F238E27FC236}">
                <a16:creationId xmlns:a16="http://schemas.microsoft.com/office/drawing/2014/main" id="{2D1A84F2-9747-F494-FC18-50F3C9851879}"/>
              </a:ext>
            </a:extLst>
          </p:cNvPr>
          <p:cNvSpPr/>
          <p:nvPr/>
        </p:nvSpPr>
        <p:spPr>
          <a:xfrm>
            <a:off x="958" y="4473"/>
            <a:ext cx="880533" cy="897466"/>
          </a:xfrm>
          <a:prstGeom prst="halfFrame">
            <a:avLst/>
          </a:prstGeom>
          <a:solidFill>
            <a:srgbClr val="0070C0"/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Half Frame 4">
            <a:extLst>
              <a:ext uri="{FF2B5EF4-FFF2-40B4-BE49-F238E27FC236}">
                <a16:creationId xmlns:a16="http://schemas.microsoft.com/office/drawing/2014/main" id="{F95409B0-4650-8188-7E0B-F0038E63D86A}"/>
              </a:ext>
            </a:extLst>
          </p:cNvPr>
          <p:cNvSpPr/>
          <p:nvPr/>
        </p:nvSpPr>
        <p:spPr>
          <a:xfrm rot="10800000">
            <a:off x="11400632" y="5968439"/>
            <a:ext cx="797485" cy="890783"/>
          </a:xfrm>
          <a:prstGeom prst="halfFrame">
            <a:avLst/>
          </a:prstGeom>
          <a:solidFill>
            <a:schemeClr val="accent4">
              <a:lumMod val="75000"/>
            </a:schemeClr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2CFAD3-5DE7-7A85-967C-8A212907C2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508" b="26530"/>
          <a:stretch>
            <a:fillRect/>
          </a:stretch>
        </p:blipFill>
        <p:spPr>
          <a:xfrm>
            <a:off x="640079" y="2736068"/>
            <a:ext cx="3258137" cy="117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061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4053C116-01BC-33F9-898E-54572989C8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2779915"/>
              </p:ext>
            </p:extLst>
          </p:nvPr>
        </p:nvGraphicFramePr>
        <p:xfrm>
          <a:off x="510397" y="2276808"/>
          <a:ext cx="10935834" cy="4583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EAD9FB0-D3FB-0F41-5535-2EC2A5280771}"/>
              </a:ext>
            </a:extLst>
          </p:cNvPr>
          <p:cNvSpPr txBox="1"/>
          <p:nvPr/>
        </p:nvSpPr>
        <p:spPr>
          <a:xfrm>
            <a:off x="877018" y="165340"/>
            <a:ext cx="10552981" cy="18466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T</a:t>
            </a:r>
            <a:r>
              <a:rPr lang="en-US" sz="3200" b="1"/>
              <a:t>he Problem:- </a:t>
            </a:r>
            <a:r>
              <a:rPr lang="en-US" sz="3200"/>
              <a:t> Peak-hour gridlocks, Infrastructure bottlenecks, No advance congestion prediction</a:t>
            </a:r>
          </a:p>
          <a:p>
            <a:r>
              <a:rPr lang="en-US" sz="3200" b="1"/>
              <a:t>Result:</a:t>
            </a:r>
            <a:r>
              <a:rPr lang="en-US" sz="3200"/>
              <a:t> Time loss. Fuel waste. Pollution.</a:t>
            </a:r>
          </a:p>
          <a:p>
            <a:pPr algn="ctr"/>
            <a:endParaRPr lang="en-US"/>
          </a:p>
        </p:txBody>
      </p:sp>
      <p:sp>
        <p:nvSpPr>
          <p:cNvPr id="41" name="Half Frame 40">
            <a:extLst>
              <a:ext uri="{FF2B5EF4-FFF2-40B4-BE49-F238E27FC236}">
                <a16:creationId xmlns:a16="http://schemas.microsoft.com/office/drawing/2014/main" id="{A0E0A8FE-9B43-E182-3337-E015C63AEF5A}"/>
              </a:ext>
            </a:extLst>
          </p:cNvPr>
          <p:cNvSpPr/>
          <p:nvPr/>
        </p:nvSpPr>
        <p:spPr>
          <a:xfrm>
            <a:off x="958" y="4473"/>
            <a:ext cx="880533" cy="897466"/>
          </a:xfrm>
          <a:prstGeom prst="halfFrame">
            <a:avLst/>
          </a:prstGeom>
          <a:solidFill>
            <a:srgbClr val="0070C0"/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9078B93C-8545-80CD-4E53-6DBD254943F7}"/>
              </a:ext>
            </a:extLst>
          </p:cNvPr>
          <p:cNvSpPr/>
          <p:nvPr/>
        </p:nvSpPr>
        <p:spPr>
          <a:xfrm rot="10800000">
            <a:off x="11400632" y="5968439"/>
            <a:ext cx="797485" cy="890783"/>
          </a:xfrm>
          <a:prstGeom prst="halfFrame">
            <a:avLst/>
          </a:prstGeom>
          <a:solidFill>
            <a:schemeClr val="accent4">
              <a:lumMod val="75000"/>
            </a:schemeClr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984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E2A44D-0FFC-DBFD-73BD-2D58A2F52572}"/>
              </a:ext>
            </a:extLst>
          </p:cNvPr>
          <p:cNvSpPr txBox="1"/>
          <p:nvPr/>
        </p:nvSpPr>
        <p:spPr>
          <a:xfrm>
            <a:off x="679100" y="-4282"/>
            <a:ext cx="873867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>
                <a:latin typeface="Bookman Old Style"/>
              </a:rPr>
              <a:t>KEY BENIFITS:-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9D64A8-9814-15F8-C0DF-20D23B04295F}"/>
              </a:ext>
            </a:extLst>
          </p:cNvPr>
          <p:cNvSpPr/>
          <p:nvPr/>
        </p:nvSpPr>
        <p:spPr>
          <a:xfrm>
            <a:off x="579071" y="917703"/>
            <a:ext cx="2729556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ea typeface="+mn-lt"/>
                <a:cs typeface="+mn-lt"/>
              </a:rPr>
              <a:t>🚦 </a:t>
            </a:r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Faster traffic movement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D078E8-4D47-D3FF-E558-7DFDBB3CAA02}"/>
              </a:ext>
            </a:extLst>
          </p:cNvPr>
          <p:cNvSpPr/>
          <p:nvPr/>
        </p:nvSpPr>
        <p:spPr>
          <a:xfrm>
            <a:off x="4446579" y="917702"/>
            <a:ext cx="2729556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⏱ Reduced waiting time at signals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666E31-FA92-214F-3FA7-2E46F281E71F}"/>
              </a:ext>
            </a:extLst>
          </p:cNvPr>
          <p:cNvSpPr/>
          <p:nvPr/>
        </p:nvSpPr>
        <p:spPr>
          <a:xfrm>
            <a:off x="8170316" y="917703"/>
            <a:ext cx="2729556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⛽ Lower fuel consumption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FBD58A-C3AE-56BF-83C1-44944F9283F1}"/>
              </a:ext>
            </a:extLst>
          </p:cNvPr>
          <p:cNvSpPr/>
          <p:nvPr/>
        </p:nvSpPr>
        <p:spPr>
          <a:xfrm>
            <a:off x="564693" y="2096647"/>
            <a:ext cx="2844575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🌍 Reduced air pollution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4493E5F-4718-6105-65B0-D048F4BF31A5}"/>
              </a:ext>
            </a:extLst>
          </p:cNvPr>
          <p:cNvSpPr/>
          <p:nvPr/>
        </p:nvSpPr>
        <p:spPr>
          <a:xfrm>
            <a:off x="4446581" y="2096646"/>
            <a:ext cx="2729556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📈 Improved urban traffic planning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F21AA9-EB91-EBDF-A90B-45D9F0301357}"/>
              </a:ext>
            </a:extLst>
          </p:cNvPr>
          <p:cNvSpPr/>
          <p:nvPr/>
        </p:nvSpPr>
        <p:spPr>
          <a:xfrm>
            <a:off x="579069" y="4454533"/>
            <a:ext cx="2830198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🚗 Reduces traffic congestion and travel time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366D4AD-E47C-E957-1969-0CAA031A6966}"/>
              </a:ext>
            </a:extLst>
          </p:cNvPr>
          <p:cNvSpPr/>
          <p:nvPr/>
        </p:nvSpPr>
        <p:spPr>
          <a:xfrm>
            <a:off x="4446580" y="4454533"/>
            <a:ext cx="2815820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⛽ Decreases fuel consumption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5285F9A-3971-9ECA-F07D-F32B821D3A2B}"/>
              </a:ext>
            </a:extLst>
          </p:cNvPr>
          <p:cNvSpPr/>
          <p:nvPr/>
        </p:nvSpPr>
        <p:spPr>
          <a:xfrm>
            <a:off x="8170317" y="2096647"/>
            <a:ext cx="2729556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🤖 AI-driven smart decision making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628D65-01CC-4CB1-E7D8-F252B2898913}"/>
              </a:ext>
            </a:extLst>
          </p:cNvPr>
          <p:cNvSpPr/>
          <p:nvPr/>
        </p:nvSpPr>
        <p:spPr>
          <a:xfrm>
            <a:off x="2318731" y="5647853"/>
            <a:ext cx="2801442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📊 Improves traffic management efficiency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137B3B-2619-517D-35B7-63A7802163C3}"/>
              </a:ext>
            </a:extLst>
          </p:cNvPr>
          <p:cNvSpPr/>
          <p:nvPr/>
        </p:nvSpPr>
        <p:spPr>
          <a:xfrm>
            <a:off x="8170315" y="4454533"/>
            <a:ext cx="2729556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🌱 Lowers air pollution and carbon emissions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63B927-12C8-13E3-EA0A-3735851AA58F}"/>
              </a:ext>
            </a:extLst>
          </p:cNvPr>
          <p:cNvSpPr/>
          <p:nvPr/>
        </p:nvSpPr>
        <p:spPr>
          <a:xfrm>
            <a:off x="6229372" y="5647853"/>
            <a:ext cx="2815820" cy="92412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ea typeface="+mn-lt"/>
                <a:cs typeface="+mn-lt"/>
              </a:rPr>
              <a:t>💼 Minimizes economic productivity loss</a:t>
            </a:r>
            <a:endParaRPr lang="en-US" b="1" i="1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7312EE-6CF7-4326-FA64-C41DA16C5137}"/>
              </a:ext>
            </a:extLst>
          </p:cNvPr>
          <p:cNvSpPr txBox="1"/>
          <p:nvPr/>
        </p:nvSpPr>
        <p:spPr>
          <a:xfrm>
            <a:off x="574788" y="3435270"/>
            <a:ext cx="426395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>
                <a:latin typeface="Bookman Old Style"/>
              </a:rPr>
              <a:t>KEY IMPACTS:-</a:t>
            </a:r>
            <a:endParaRPr lang="en-US"/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08824131-8B88-5901-0AD2-696CF53E9BB3}"/>
              </a:ext>
            </a:extLst>
          </p:cNvPr>
          <p:cNvSpPr/>
          <p:nvPr/>
        </p:nvSpPr>
        <p:spPr>
          <a:xfrm>
            <a:off x="958" y="4473"/>
            <a:ext cx="880533" cy="897466"/>
          </a:xfrm>
          <a:prstGeom prst="halfFrame">
            <a:avLst/>
          </a:prstGeom>
          <a:solidFill>
            <a:srgbClr val="0070C0"/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Half Frame 17">
            <a:extLst>
              <a:ext uri="{FF2B5EF4-FFF2-40B4-BE49-F238E27FC236}">
                <a16:creationId xmlns:a16="http://schemas.microsoft.com/office/drawing/2014/main" id="{35A30DDF-2D7C-D2E9-4E69-8ED86B600FBC}"/>
              </a:ext>
            </a:extLst>
          </p:cNvPr>
          <p:cNvSpPr/>
          <p:nvPr/>
        </p:nvSpPr>
        <p:spPr>
          <a:xfrm rot="10800000">
            <a:off x="11400632" y="5968439"/>
            <a:ext cx="797485" cy="890783"/>
          </a:xfrm>
          <a:prstGeom prst="halfFrame">
            <a:avLst/>
          </a:prstGeom>
          <a:solidFill>
            <a:schemeClr val="accent4">
              <a:lumMod val="75000"/>
            </a:schemeClr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9350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4149A2F-D24C-0D3A-DEF4-292AE0DE11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995" t="24991" r="6966" b="13445"/>
          <a:stretch>
            <a:fillRect/>
          </a:stretch>
        </p:blipFill>
        <p:spPr>
          <a:xfrm>
            <a:off x="158152" y="15430"/>
            <a:ext cx="12028264" cy="683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74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63FB77-188A-3ACA-92A6-B93A114696D6}"/>
              </a:ext>
            </a:extLst>
          </p:cNvPr>
          <p:cNvSpPr txBox="1"/>
          <p:nvPr/>
        </p:nvSpPr>
        <p:spPr>
          <a:xfrm>
            <a:off x="560717" y="271732"/>
            <a:ext cx="10409207" cy="923330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 dirty="0">
                <a:latin typeface="Bookman Old Style"/>
              </a:rPr>
              <a:t>Traffic Congestion Prediction Workflow </a:t>
            </a:r>
          </a:p>
          <a:p>
            <a:pPr algn="ctr"/>
            <a:endParaRPr lang="en-US" b="1" dirty="0">
              <a:latin typeface="Bookman Old Style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846BC17-ECEB-880E-23F9-12768FB113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458599" cy="7047778"/>
          </a:xfrm>
          <a:prstGeom prst="rect">
            <a:avLst/>
          </a:prstGeom>
        </p:spPr>
      </p:pic>
      <p:sp>
        <p:nvSpPr>
          <p:cNvPr id="7" name="Half Frame 6">
            <a:extLst>
              <a:ext uri="{FF2B5EF4-FFF2-40B4-BE49-F238E27FC236}">
                <a16:creationId xmlns:a16="http://schemas.microsoft.com/office/drawing/2014/main" id="{7F0E0D73-3CF7-8D72-A275-5D86EEC94025}"/>
              </a:ext>
            </a:extLst>
          </p:cNvPr>
          <p:cNvSpPr/>
          <p:nvPr/>
        </p:nvSpPr>
        <p:spPr>
          <a:xfrm>
            <a:off x="958" y="4473"/>
            <a:ext cx="880533" cy="897466"/>
          </a:xfrm>
          <a:prstGeom prst="halfFrame">
            <a:avLst/>
          </a:prstGeom>
          <a:solidFill>
            <a:srgbClr val="0070C0"/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Half Frame 8">
            <a:extLst>
              <a:ext uri="{FF2B5EF4-FFF2-40B4-BE49-F238E27FC236}">
                <a16:creationId xmlns:a16="http://schemas.microsoft.com/office/drawing/2014/main" id="{B3DD7935-FDE3-A00A-76A9-C7F3FA4AFB70}"/>
              </a:ext>
            </a:extLst>
          </p:cNvPr>
          <p:cNvSpPr/>
          <p:nvPr/>
        </p:nvSpPr>
        <p:spPr>
          <a:xfrm rot="10800000">
            <a:off x="11400632" y="5968439"/>
            <a:ext cx="797485" cy="890783"/>
          </a:xfrm>
          <a:prstGeom prst="halfFrame">
            <a:avLst/>
          </a:prstGeom>
          <a:solidFill>
            <a:schemeClr val="accent4">
              <a:lumMod val="75000"/>
            </a:schemeClr>
          </a:solidFill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34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traffic data&#10;&#10;AI-generated content may be incorrect.">
            <a:extLst>
              <a:ext uri="{FF2B5EF4-FFF2-40B4-BE49-F238E27FC236}">
                <a16:creationId xmlns:a16="http://schemas.microsoft.com/office/drawing/2014/main" id="{13862A4D-B650-01A2-6406-CD27755BD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67" y="818071"/>
            <a:ext cx="5420803" cy="5811329"/>
          </a:xfrm>
          <a:prstGeom prst="rect">
            <a:avLst/>
          </a:prstGeom>
        </p:spPr>
      </p:pic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D42F6C8-3B9F-8F27-3DEE-46625D3034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05452484"/>
              </p:ext>
            </p:extLst>
          </p:nvPr>
        </p:nvGraphicFramePr>
        <p:xfrm>
          <a:off x="6502879" y="373512"/>
          <a:ext cx="5171872" cy="268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1872">
                  <a:extLst>
                    <a:ext uri="{9D8B030D-6E8A-4147-A177-3AD203B41FA5}">
                      <a16:colId xmlns:a16="http://schemas.microsoft.com/office/drawing/2014/main" val="229458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 i="0" u="none" strike="noStrike" noProof="0" dirty="0">
                          <a:latin typeface="Bookman Old Style"/>
                        </a:rPr>
                        <a:t>    Feasibility</a:t>
                      </a:r>
                      <a:endParaRPr lang="en-US" sz="2000" b="0" i="0" u="none" strike="noStrike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801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ptos"/>
                        </a:rPr>
                        <a:t>Built using lightweight technologies (Python, Flask, MySQL)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679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Aptos"/>
                        </a:rPr>
                        <a:t>Runs on standard hardware (no high-end setup needed)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404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Aptos"/>
                        </a:rPr>
                        <a:t>Compatible with existing traffic data sources (manual, sensors, CCTV)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477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Aptos"/>
                        </a:rPr>
                        <a:t>ML model improves using historical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84238"/>
                  </a:ext>
                </a:extLst>
              </a:tr>
            </a:tbl>
          </a:graphicData>
        </a:graphic>
      </p:graphicFrame>
      <p:pic>
        <p:nvPicPr>
          <p:cNvPr id="7" name="Picture 6" descr="A white gear with a black circle&#10;&#10;AI-generated content may be incorrect.">
            <a:extLst>
              <a:ext uri="{FF2B5EF4-FFF2-40B4-BE49-F238E27FC236}">
                <a16:creationId xmlns:a16="http://schemas.microsoft.com/office/drawing/2014/main" id="{1E0255E7-19D5-9FD2-A31C-EA32F11BE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8825" y="1753333"/>
            <a:ext cx="385397" cy="467458"/>
          </a:xfrm>
          <a:prstGeom prst="rect">
            <a:avLst/>
          </a:prstGeom>
        </p:spPr>
      </p:pic>
      <p:pic>
        <p:nvPicPr>
          <p:cNvPr id="9" name="Picture 8" descr="A white gear with a black circle&#10;&#10;AI-generated content may be incorrect.">
            <a:extLst>
              <a:ext uri="{FF2B5EF4-FFF2-40B4-BE49-F238E27FC236}">
                <a16:creationId xmlns:a16="http://schemas.microsoft.com/office/drawing/2014/main" id="{FAC5DE7F-6D9A-5FE7-650D-DB8588609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1225" y="1905733"/>
            <a:ext cx="385397" cy="467458"/>
          </a:xfrm>
          <a:prstGeom prst="rect">
            <a:avLst/>
          </a:prstGeom>
        </p:spPr>
      </p:pic>
      <p:graphicFrame>
        <p:nvGraphicFramePr>
          <p:cNvPr id="11" name="Content Placeholder 5">
            <a:extLst>
              <a:ext uri="{FF2B5EF4-FFF2-40B4-BE49-F238E27FC236}">
                <a16:creationId xmlns:a16="http://schemas.microsoft.com/office/drawing/2014/main" id="{655F42A9-F0DF-4054-6102-4A1EF089C6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9575921"/>
              </p:ext>
            </p:extLst>
          </p:nvPr>
        </p:nvGraphicFramePr>
        <p:xfrm>
          <a:off x="6502879" y="3433677"/>
          <a:ext cx="5285558" cy="2609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5558">
                  <a:extLst>
                    <a:ext uri="{9D8B030D-6E8A-4147-A177-3AD203B41FA5}">
                      <a16:colId xmlns:a16="http://schemas.microsoft.com/office/drawing/2014/main" val="3825470642"/>
                    </a:ext>
                  </a:extLst>
                </a:gridCol>
              </a:tblGrid>
              <a:tr h="52183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ptos"/>
                        </a:rPr>
                        <a:t>🚀</a:t>
                      </a:r>
                      <a:r>
                        <a:rPr lang="en-US" sz="2000" b="0" i="0" u="none" strike="noStrike" noProof="0">
                          <a:latin typeface="Bookman Old Style"/>
                        </a:rPr>
                        <a:t> </a:t>
                      </a:r>
                      <a:r>
                        <a:rPr lang="en-US" sz="2000" b="1" i="0" u="none" strike="noStrike" noProof="0">
                          <a:latin typeface="Bookman Old Style"/>
                        </a:rPr>
                        <a:t>Scalability</a:t>
                      </a:r>
                      <a:endParaRPr lang="en-US" sz="2000" b="1">
                        <a:latin typeface="Bookman Old Style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5421235"/>
                  </a:ext>
                </a:extLst>
              </a:tr>
              <a:tr h="52183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ptos"/>
                        </a:rPr>
                        <a:t>Add new roads via database updates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862545"/>
                  </a:ext>
                </a:extLst>
              </a:tr>
              <a:tr h="52183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ptos"/>
                        </a:rPr>
                        <a:t>Optimized with indexing for better performance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373814"/>
                  </a:ext>
                </a:extLst>
              </a:tr>
              <a:tr h="52183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ptos"/>
                        </a:rPr>
                        <a:t>Modular REST API supports easy expansion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1989592"/>
                  </a:ext>
                </a:extLst>
              </a:tr>
              <a:tr h="52183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ptos"/>
                        </a:rPr>
                        <a:t>Cloud-ready for city-wide deployment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008814"/>
                  </a:ext>
                </a:extLst>
              </a:tr>
            </a:tbl>
          </a:graphicData>
        </a:graphic>
      </p:graphicFrame>
      <p:pic>
        <p:nvPicPr>
          <p:cNvPr id="4" name="Picture 3" descr="A white gear with a black circle&#10;&#10;AI-generated content may be incorrect.">
            <a:extLst>
              <a:ext uri="{FF2B5EF4-FFF2-40B4-BE49-F238E27FC236}">
                <a16:creationId xmlns:a16="http://schemas.microsoft.com/office/drawing/2014/main" id="{18129955-6A5B-3790-2D0C-56E339AF83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879" y="357953"/>
            <a:ext cx="390525" cy="457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0E0C28-29DB-1C30-8225-C4163652BF55}"/>
              </a:ext>
            </a:extLst>
          </p:cNvPr>
          <p:cNvSpPr txBox="1"/>
          <p:nvPr/>
        </p:nvSpPr>
        <p:spPr>
          <a:xfrm>
            <a:off x="599872" y="243191"/>
            <a:ext cx="280480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 b="1" dirty="0">
                <a:latin typeface="Bookman Old Style"/>
              </a:rPr>
              <a:t>ER-DIAGRAM:-</a:t>
            </a:r>
          </a:p>
        </p:txBody>
      </p:sp>
    </p:spTree>
    <p:extLst>
      <p:ext uri="{BB962C8B-B14F-4D97-AF65-F5344CB8AC3E}">
        <p14:creationId xmlns:p14="http://schemas.microsoft.com/office/powerpoint/2010/main" val="4294417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ankyou Icon Blue Stock Illustration 452908279 | Shutterstock">
            <a:extLst>
              <a:ext uri="{FF2B5EF4-FFF2-40B4-BE49-F238E27FC236}">
                <a16:creationId xmlns:a16="http://schemas.microsoft.com/office/drawing/2014/main" id="{C2562267-26E4-F210-2F2B-2948ADCF98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17"/>
          <a:stretch>
            <a:fillRect/>
          </a:stretch>
        </p:blipFill>
        <p:spPr bwMode="auto">
          <a:xfrm>
            <a:off x="2666232" y="1348248"/>
            <a:ext cx="6635084" cy="3457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17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259</Words>
  <Application>Microsoft Office PowerPoint</Application>
  <PresentationFormat>Widescreen</PresentationFormat>
  <Paragraphs>41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Book Antiqua</vt:lpstr>
      <vt:lpstr>Bookman Old Style</vt:lpstr>
      <vt:lpstr>office theme</vt:lpstr>
      <vt:lpstr>🚦 AI-Based Traffic Congestion Prediction &amp; Optimization System                        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Nilam Agarwal</cp:lastModifiedBy>
  <cp:revision>134</cp:revision>
  <dcterms:created xsi:type="dcterms:W3CDTF">2013-07-15T20:26:40Z</dcterms:created>
  <dcterms:modified xsi:type="dcterms:W3CDTF">2026-02-27T11:51:15Z</dcterms:modified>
</cp:coreProperties>
</file>